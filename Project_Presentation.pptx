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1F"/>
          </a:solidFill>
          <a:ln>
            <a:solidFill>
              <a:srgbClr val="0A12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7772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F5F8FC"/>
                </a:solidFill>
                <a:latin typeface="Aptos"/>
              </a:rPr>
              <a:t>AI RETAIL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44752"/>
            <a:ext cx="5727192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dirty="0">
                <a:solidFill>
                  <a:srgbClr val="3DDC97"/>
                </a:solidFill>
                <a:latin typeface="Aptos"/>
              </a:rPr>
              <a:t>End-to-End Data Pipeline &amp; Predictive Analytics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212848"/>
            <a:ext cx="8686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AEBECF"/>
                </a:solidFill>
                <a:latin typeface="Aptos"/>
              </a:rPr>
              <a:t>Collect  •  Clean  •  Analyze  •  Predict  •  Visualize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971800"/>
            <a:ext cx="5074920" cy="1965960"/>
          </a:xfrm>
          <a:prstGeom prst="roundRect">
            <a:avLst/>
          </a:prstGeom>
          <a:solidFill>
            <a:srgbClr val="142336"/>
          </a:solidFill>
          <a:ln>
            <a:solidFill>
              <a:srgbClr val="142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3246120"/>
            <a:ext cx="4389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5F8FC"/>
                </a:solidFill>
                <a:latin typeface="Aptos"/>
              </a:rPr>
              <a:t>Project Objective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657600"/>
            <a:ext cx="4343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AEBECF"/>
                </a:solidFill>
                <a:latin typeface="Aptos"/>
              </a:rPr>
              <a:t>Build a complete analytics solution that transforms raw retail transaction data into actionable business insights and customer churn predictions.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86500" y="1074419"/>
            <a:ext cx="4892040" cy="4389120"/>
          </a:xfrm>
          <a:prstGeom prst="roundRect">
            <a:avLst/>
          </a:prstGeom>
          <a:solidFill>
            <a:srgbClr val="1C3048"/>
          </a:solidFill>
          <a:ln>
            <a:solidFill>
              <a:srgbClr val="1C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903720" y="1371600"/>
            <a:ext cx="4023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DDC97"/>
                </a:solidFill>
                <a:latin typeface="Aptos"/>
              </a:rPr>
              <a:t>SYSTEM PIPELINE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95160" y="1874519"/>
            <a:ext cx="3474720" cy="384048"/>
          </a:xfrm>
          <a:prstGeom prst="roundRect">
            <a:avLst/>
          </a:prstGeom>
          <a:solidFill>
            <a:srgbClr val="142336"/>
          </a:solidFill>
          <a:ln>
            <a:solidFill>
              <a:srgbClr val="142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223760" y="1929384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F8FC"/>
                </a:solidFill>
                <a:latin typeface="Aptos"/>
              </a:rPr>
              <a:t>Raw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49640" y="2231136"/>
            <a:ext cx="2743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3DDC97"/>
                </a:solidFill>
                <a:latin typeface="Aptos"/>
              </a:rPr>
              <a:t>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95160" y="2487168"/>
            <a:ext cx="3474720" cy="384048"/>
          </a:xfrm>
          <a:prstGeom prst="roundRect">
            <a:avLst/>
          </a:prstGeom>
          <a:solidFill>
            <a:srgbClr val="142336"/>
          </a:solidFill>
          <a:ln>
            <a:solidFill>
              <a:srgbClr val="142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223760" y="254203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F8FC"/>
                </a:solidFill>
                <a:latin typeface="Aptos"/>
              </a:rPr>
              <a:t>ETL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2843784"/>
            <a:ext cx="2743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3DDC97"/>
                </a:solidFill>
                <a:latin typeface="Aptos"/>
              </a:rPr>
              <a:t>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95160" y="3099815"/>
            <a:ext cx="3474720" cy="384048"/>
          </a:xfrm>
          <a:prstGeom prst="roundRect">
            <a:avLst/>
          </a:prstGeom>
          <a:solidFill>
            <a:srgbClr val="142336"/>
          </a:solidFill>
          <a:ln>
            <a:solidFill>
              <a:srgbClr val="142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223760" y="3154679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F8FC"/>
                </a:solidFill>
                <a:latin typeface="Aptos"/>
              </a:rPr>
              <a:t>EDA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3456432"/>
            <a:ext cx="2743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3DDC97"/>
                </a:solidFill>
                <a:latin typeface="Aptos"/>
              </a:rPr>
              <a:t>↓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95160" y="3712464"/>
            <a:ext cx="3474720" cy="384048"/>
          </a:xfrm>
          <a:prstGeom prst="roundRect">
            <a:avLst/>
          </a:prstGeom>
          <a:solidFill>
            <a:srgbClr val="142336"/>
          </a:solidFill>
          <a:ln>
            <a:solidFill>
              <a:srgbClr val="142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223760" y="3767328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F8FC"/>
                </a:solidFill>
                <a:latin typeface="Aptos"/>
              </a:rPr>
              <a:t>ML Model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49640" y="4069080"/>
            <a:ext cx="2743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3DDC97"/>
                </a:solidFill>
                <a:latin typeface="Aptos"/>
              </a:rPr>
              <a:t>↓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95160" y="4325112"/>
            <a:ext cx="3474720" cy="384048"/>
          </a:xfrm>
          <a:prstGeom prst="roundRect">
            <a:avLst/>
          </a:prstGeom>
          <a:solidFill>
            <a:srgbClr val="142336"/>
          </a:solidFill>
          <a:ln>
            <a:solidFill>
              <a:srgbClr val="142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223760" y="4379976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F8FC"/>
                </a:solidFill>
                <a:latin typeface="Aptos"/>
              </a:rPr>
              <a:t>Dashboard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9893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EBECF"/>
                </a:solidFill>
                <a:latin typeface="Aptos"/>
              </a:rPr>
              <a:t>Python • Pandas • Scikit-learn • FastAPI • Streamlit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10528"/>
            <a:ext cx="11155680" cy="22313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dirty="0">
                <a:solidFill>
                  <a:srgbClr val="AEBECF"/>
                </a:solidFill>
                <a:latin typeface="Aptos"/>
              </a:rPr>
              <a:t>AI Retail Analytics Platform   |  1/10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5F8FC"/>
                </a:solidFill>
                <a:latin typeface="Aptos"/>
              </a:rPr>
              <a:t>1. Dataset &amp; Data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5039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EBECF"/>
                </a:solidFill>
                <a:latin typeface="Aptos"/>
              </a:rPr>
              <a:t>The pipeline starts with a retail transaction dataset containing customer, product, payment and churn information.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25880"/>
            <a:ext cx="3429000" cy="4114800"/>
          </a:xfrm>
          <a:prstGeom prst="roundRect">
            <a:avLst/>
          </a:prstGeom>
          <a:solidFill>
            <a:srgbClr val="142336"/>
          </a:solidFill>
          <a:ln>
            <a:solidFill>
              <a:srgbClr val="142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600200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3DDC97"/>
                </a:solidFill>
                <a:latin typeface="Aptos"/>
              </a:rPr>
              <a:t>Transaction &amp; Customer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148840"/>
            <a:ext cx="28346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F5F8FC"/>
                </a:solidFill>
                <a:latin typeface="Aptos"/>
              </a:defRPr>
            </a:pPr>
            <a:r>
              <a:t>TransactionID</a:t>
            </a:r>
          </a:p>
          <a:p>
            <a:pPr>
              <a:spcAft>
                <a:spcPts val="500"/>
              </a:spcAft>
              <a:defRPr sz="1500">
                <a:solidFill>
                  <a:srgbClr val="F5F8FC"/>
                </a:solidFill>
                <a:latin typeface="Aptos"/>
              </a:defRPr>
            </a:pPr>
            <a:r>
              <a:t>CustomerID</a:t>
            </a:r>
          </a:p>
          <a:p>
            <a:pPr>
              <a:spcAft>
                <a:spcPts val="500"/>
              </a:spcAft>
              <a:defRPr sz="1500">
                <a:solidFill>
                  <a:srgbClr val="F5F8FC"/>
                </a:solidFill>
                <a:latin typeface="Aptos"/>
              </a:defRPr>
            </a:pPr>
            <a:r>
              <a:t>PurchaseDate</a:t>
            </a:r>
          </a:p>
          <a:p>
            <a:pPr>
              <a:spcAft>
                <a:spcPts val="500"/>
              </a:spcAft>
              <a:defRPr sz="1500">
                <a:solidFill>
                  <a:srgbClr val="F5F8FC"/>
                </a:solidFill>
                <a:latin typeface="Aptos"/>
              </a:defRPr>
            </a:pPr>
            <a:r>
              <a:t>Age</a:t>
            </a:r>
          </a:p>
          <a:p>
            <a:pPr>
              <a:spcAft>
                <a:spcPts val="500"/>
              </a:spcAft>
              <a:defRPr sz="1500">
                <a:solidFill>
                  <a:srgbClr val="F5F8FC"/>
                </a:solidFill>
                <a:latin typeface="Aptos"/>
              </a:defRPr>
            </a:pPr>
            <a:r>
              <a:t>Gender</a:t>
            </a:r>
          </a:p>
          <a:p>
            <a:pPr>
              <a:spcAft>
                <a:spcPts val="500"/>
              </a:spcAft>
              <a:defRPr sz="1500">
                <a:solidFill>
                  <a:srgbClr val="F5F8FC"/>
                </a:solidFill>
                <a:latin typeface="Aptos"/>
              </a:defRPr>
            </a:pPr>
            <a:r>
              <a:t>Location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325880"/>
            <a:ext cx="3429000" cy="4114800"/>
          </a:xfrm>
          <a:prstGeom prst="roundRect">
            <a:avLst/>
          </a:prstGeom>
          <a:solidFill>
            <a:srgbClr val="142336"/>
          </a:solidFill>
          <a:ln>
            <a:solidFill>
              <a:srgbClr val="142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63440" y="1600200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3DDC97"/>
                </a:solidFill>
                <a:latin typeface="Aptos"/>
              </a:rPr>
              <a:t>Product &amp; Payment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79" y="2148840"/>
            <a:ext cx="28346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F5F8FC"/>
                </a:solidFill>
                <a:latin typeface="Aptos"/>
              </a:defRPr>
            </a:pPr>
            <a:r>
              <a:t>ProductCategory</a:t>
            </a:r>
          </a:p>
          <a:p>
            <a:pPr>
              <a:spcAft>
                <a:spcPts val="500"/>
              </a:spcAft>
              <a:defRPr sz="1500">
                <a:solidFill>
                  <a:srgbClr val="F5F8FC"/>
                </a:solidFill>
                <a:latin typeface="Aptos"/>
              </a:defRPr>
            </a:pPr>
            <a:r>
              <a:t>Quantity</a:t>
            </a:r>
          </a:p>
          <a:p>
            <a:pPr>
              <a:spcAft>
                <a:spcPts val="500"/>
              </a:spcAft>
              <a:defRPr sz="1500">
                <a:solidFill>
                  <a:srgbClr val="F5F8FC"/>
                </a:solidFill>
                <a:latin typeface="Aptos"/>
              </a:defRPr>
            </a:pPr>
            <a:r>
              <a:t>UnitPrice</a:t>
            </a:r>
          </a:p>
          <a:p>
            <a:pPr>
              <a:spcAft>
                <a:spcPts val="500"/>
              </a:spcAft>
              <a:defRPr sz="1500">
                <a:solidFill>
                  <a:srgbClr val="F5F8FC"/>
                </a:solidFill>
                <a:latin typeface="Aptos"/>
              </a:defRPr>
            </a:pPr>
            <a:r>
              <a:t>PaymentMethod</a:t>
            </a:r>
          </a:p>
          <a:p>
            <a:pPr>
              <a:spcAft>
                <a:spcPts val="500"/>
              </a:spcAft>
              <a:defRPr sz="1500">
                <a:solidFill>
                  <a:srgbClr val="F5F8FC"/>
                </a:solidFill>
                <a:latin typeface="Aptos"/>
              </a:defRPr>
            </a:pPr>
            <a:r>
              <a:t>DiscountPercent</a:t>
            </a:r>
          </a:p>
          <a:p>
            <a:pPr>
              <a:spcAft>
                <a:spcPts val="500"/>
              </a:spcAft>
              <a:defRPr sz="1500">
                <a:solidFill>
                  <a:srgbClr val="F5F8FC"/>
                </a:solidFill>
                <a:latin typeface="Aptos"/>
              </a:defRPr>
            </a:pPr>
            <a:r>
              <a:t>ShippingCost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21040" y="1325880"/>
            <a:ext cx="3429000" cy="4114800"/>
          </a:xfrm>
          <a:prstGeom prst="roundRect">
            <a:avLst/>
          </a:prstGeom>
          <a:solidFill>
            <a:srgbClr val="142336"/>
          </a:solidFill>
          <a:ln>
            <a:solidFill>
              <a:srgbClr val="142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49640" y="1600200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3DDC97"/>
                </a:solidFill>
                <a:latin typeface="Aptos"/>
              </a:rPr>
              <a:t>Business Outcome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41080" y="2148840"/>
            <a:ext cx="28346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F5F8FC"/>
                </a:solidFill>
                <a:latin typeface="Aptos"/>
              </a:defRPr>
            </a:pPr>
            <a:r>
              <a:t>CustomerRating</a:t>
            </a:r>
          </a:p>
          <a:p>
            <a:pPr>
              <a:spcAft>
                <a:spcPts val="500"/>
              </a:spcAft>
              <a:defRPr sz="1500">
                <a:solidFill>
                  <a:srgbClr val="F5F8FC"/>
                </a:solidFill>
                <a:latin typeface="Aptos"/>
              </a:defRPr>
            </a:pPr>
            <a:r>
              <a:t>ChurnStatus</a:t>
            </a:r>
          </a:p>
          <a:p>
            <a:pPr>
              <a:spcAft>
                <a:spcPts val="500"/>
              </a:spcAft>
              <a:defRPr sz="1500">
                <a:solidFill>
                  <a:srgbClr val="F5F8FC"/>
                </a:solidFill>
                <a:latin typeface="Aptos"/>
              </a:defRPr>
            </a:pPr>
            <a:r>
              <a:t>TotalAmount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623560"/>
            <a:ext cx="11064240" cy="502920"/>
          </a:xfrm>
          <a:prstGeom prst="roundRect">
            <a:avLst/>
          </a:prstGeom>
          <a:solidFill>
            <a:srgbClr val="1C3048"/>
          </a:solidFill>
          <a:ln>
            <a:solidFill>
              <a:srgbClr val="1C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5742432"/>
            <a:ext cx="10607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1">
                <a:solidFill>
                  <a:srgbClr val="F5F8FC"/>
                </a:solidFill>
                <a:latin typeface="Aptos"/>
              </a:rPr>
              <a:t>Pipeline sequence:  Audit  →  Validate  →  Clean  →  Engineer Features  →  Analyze  →  Train Model  →  Predict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10528"/>
            <a:ext cx="11155680" cy="22313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dirty="0">
                <a:solidFill>
                  <a:srgbClr val="AEBECF"/>
                </a:solidFill>
                <a:latin typeface="Aptos"/>
              </a:rPr>
              <a:t>AI Retail Analytics Platform  |  2/10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5F8FC"/>
                </a:solidFill>
                <a:latin typeface="Aptos"/>
              </a:rPr>
              <a:t>2. Data Cleaning &amp;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5039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EBECF"/>
                </a:solidFill>
                <a:latin typeface="Aptos"/>
              </a:rPr>
              <a:t>Quality checks ensure the model and business analytics operate on reliable data.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34440"/>
            <a:ext cx="5486400" cy="4480560"/>
          </a:xfrm>
          <a:prstGeom prst="roundRect">
            <a:avLst/>
          </a:prstGeom>
          <a:solidFill>
            <a:srgbClr val="142336"/>
          </a:solidFill>
          <a:ln>
            <a:solidFill>
              <a:srgbClr val="142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554480"/>
            <a:ext cx="466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3DDC97"/>
                </a:solidFill>
                <a:latin typeface="Aptos"/>
              </a:rPr>
              <a:t>Quality Control Checks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57400"/>
            <a:ext cx="46634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F5F8FC"/>
                </a:solidFill>
                <a:latin typeface="Aptos"/>
              </a:defRPr>
            </a:pPr>
            <a:r>
              <a:t>Missing values detected and handled during cleaning</a:t>
            </a:r>
          </a:p>
          <a:p>
            <a:pPr>
              <a:spcAft>
                <a:spcPts val="500"/>
              </a:spcAft>
              <a:defRPr sz="1500">
                <a:solidFill>
                  <a:srgbClr val="F5F8FC"/>
                </a:solidFill>
                <a:latin typeface="Aptos"/>
              </a:defRPr>
            </a:pPr>
            <a:r>
              <a:t>Duplicate transaction records identified and removed</a:t>
            </a:r>
          </a:p>
          <a:p>
            <a:pPr>
              <a:spcAft>
                <a:spcPts val="500"/>
              </a:spcAft>
              <a:defRPr sz="1500">
                <a:solidFill>
                  <a:srgbClr val="F5F8FC"/>
                </a:solidFill>
                <a:latin typeface="Aptos"/>
              </a:defRPr>
            </a:pPr>
            <a:r>
              <a:t>Duplicate Transaction IDs checked separately</a:t>
            </a:r>
          </a:p>
          <a:p>
            <a:pPr>
              <a:spcAft>
                <a:spcPts val="500"/>
              </a:spcAft>
              <a:defRPr sz="1500">
                <a:solidFill>
                  <a:srgbClr val="F5F8FC"/>
                </a:solidFill>
                <a:latin typeface="Aptos"/>
              </a:defRPr>
            </a:pPr>
            <a:r>
              <a:t>Categorical inconsistencies normalized</a:t>
            </a:r>
          </a:p>
          <a:p>
            <a:pPr>
              <a:spcAft>
                <a:spcPts val="500"/>
              </a:spcAft>
              <a:defRPr sz="1500">
                <a:solidFill>
                  <a:srgbClr val="F5F8FC"/>
                </a:solidFill>
                <a:latin typeface="Aptos"/>
              </a:defRPr>
            </a:pPr>
            <a:r>
              <a:t>Numeric fields validated for usable values</a:t>
            </a:r>
          </a:p>
          <a:p>
            <a:pPr>
              <a:spcAft>
                <a:spcPts val="500"/>
              </a:spcAft>
              <a:defRPr sz="1500">
                <a:solidFill>
                  <a:srgbClr val="F5F8FC"/>
                </a:solidFill>
                <a:latin typeface="Aptos"/>
              </a:defRPr>
            </a:pPr>
            <a:r>
              <a:t>Final dataset validated before downstream processing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1234440"/>
            <a:ext cx="5257800" cy="4480560"/>
          </a:xfrm>
          <a:prstGeom prst="roundRect">
            <a:avLst/>
          </a:prstGeom>
          <a:solidFill>
            <a:srgbClr val="1C3048"/>
          </a:solidFill>
          <a:ln>
            <a:solidFill>
              <a:srgbClr val="1C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75120" y="1554480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5F8FC"/>
                </a:solidFill>
                <a:latin typeface="Aptos"/>
              </a:rPr>
              <a:t>Examples of Standardization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0840" y="2148840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DDC97"/>
                </a:solidFill>
                <a:latin typeface="Aptos"/>
              </a:rPr>
              <a:t>Gender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75320" y="2148840"/>
            <a:ext cx="28803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F5F8FC"/>
                </a:solidFill>
                <a:latin typeface="Aptos"/>
              </a:rPr>
              <a:t>F / Female  →  Female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840" y="2743200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DDC97"/>
                </a:solidFill>
                <a:latin typeface="Aptos"/>
              </a:rPr>
              <a:t>Category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20" y="2743200"/>
            <a:ext cx="28803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F5F8FC"/>
                </a:solidFill>
                <a:latin typeface="Aptos"/>
              </a:rPr>
              <a:t>Elec / Electronics  →  Electronics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3337560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DDC97"/>
                </a:solidFill>
                <a:latin typeface="Aptos"/>
              </a:rPr>
              <a:t>ChurnStatus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3337560"/>
            <a:ext cx="28803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F5F8FC"/>
                </a:solidFill>
                <a:latin typeface="Aptos"/>
              </a:rPr>
              <a:t>yes / Yes  →  Yes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3931920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DDC97"/>
                </a:solidFill>
                <a:latin typeface="Aptos"/>
              </a:rPr>
              <a:t>Duplicates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3931920"/>
            <a:ext cx="28803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F5F8FC"/>
                </a:solidFill>
                <a:latin typeface="Aptos"/>
              </a:rPr>
              <a:t>Exact duplicate rows removed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0840" y="4526280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DDC97"/>
                </a:solidFill>
                <a:latin typeface="Aptos"/>
              </a:rPr>
              <a:t>Missing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4526280"/>
            <a:ext cx="28803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F5F8FC"/>
                </a:solidFill>
                <a:latin typeface="Aptos"/>
              </a:rPr>
              <a:t>Imputation / cleaning logic applied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0528"/>
            <a:ext cx="11155680" cy="22313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dirty="0">
                <a:solidFill>
                  <a:srgbClr val="AEBECF"/>
                </a:solidFill>
                <a:latin typeface="Aptos"/>
              </a:rPr>
              <a:t>AI Retail Analytics Platform   |  3/10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5F8FC"/>
                </a:solidFill>
                <a:latin typeface="Aptos"/>
              </a:rPr>
              <a:t>3. Feature Engineering &amp; Calculated Columns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5039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EBECF"/>
                </a:solidFill>
                <a:latin typeface="Aptos"/>
              </a:rPr>
              <a:t>Raw fields are transformed into analytical features that help explain customer behavior and seasonality.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34440"/>
            <a:ext cx="11064240" cy="4892040"/>
          </a:xfrm>
          <a:prstGeom prst="roundRect">
            <a:avLst/>
          </a:prstGeom>
          <a:solidFill>
            <a:srgbClr val="142336"/>
          </a:solidFill>
          <a:ln>
            <a:solidFill>
              <a:srgbClr val="142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554480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DDC97"/>
                </a:solidFill>
                <a:latin typeface="Aptos"/>
              </a:rPr>
              <a:t>Feature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08960" y="1554480"/>
            <a:ext cx="37490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DDC97"/>
                </a:solidFill>
                <a:latin typeface="Aptos"/>
              </a:rPr>
              <a:t>Business Meaning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1554480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DDC97"/>
                </a:solidFill>
                <a:latin typeface="Aptos"/>
              </a:rPr>
              <a:t>Calculation Logic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892808"/>
            <a:ext cx="10607040" cy="384048"/>
          </a:xfrm>
          <a:prstGeom prst="roundRect">
            <a:avLst/>
          </a:prstGeom>
          <a:solidFill>
            <a:srgbClr val="1C3048"/>
          </a:solidFill>
          <a:ln>
            <a:solidFill>
              <a:srgbClr val="1C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938528"/>
            <a:ext cx="2057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F5F8FC"/>
                </a:solidFill>
                <a:latin typeface="Aptos"/>
              </a:rPr>
              <a:t>PurchaseYear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1938528"/>
            <a:ext cx="4114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0">
                <a:solidFill>
                  <a:srgbClr val="AEBECF"/>
                </a:solidFill>
                <a:latin typeface="Aptos"/>
              </a:rPr>
              <a:t>Year extracted from PurchaseDate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9" y="1938528"/>
            <a:ext cx="3383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0">
                <a:solidFill>
                  <a:srgbClr val="F5F8FC"/>
                </a:solidFill>
                <a:latin typeface="Aptos"/>
              </a:rPr>
              <a:t>year(PurchaseDate)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04872"/>
            <a:ext cx="2057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F5F8FC"/>
                </a:solidFill>
                <a:latin typeface="Aptos"/>
              </a:rPr>
              <a:t>PurchaseMonth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2404872"/>
            <a:ext cx="4114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0">
                <a:solidFill>
                  <a:srgbClr val="AEBECF"/>
                </a:solidFill>
                <a:latin typeface="Aptos"/>
              </a:rPr>
              <a:t>Month number extracted from PurchaseDate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79" y="2404872"/>
            <a:ext cx="3383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0">
                <a:solidFill>
                  <a:srgbClr val="F5F8FC"/>
                </a:solidFill>
                <a:latin typeface="Aptos"/>
              </a:rPr>
              <a:t>month(PurchaseDate)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2825496"/>
            <a:ext cx="10607040" cy="384048"/>
          </a:xfrm>
          <a:prstGeom prst="roundRect">
            <a:avLst/>
          </a:prstGeom>
          <a:solidFill>
            <a:srgbClr val="1C3048"/>
          </a:solidFill>
          <a:ln>
            <a:solidFill>
              <a:srgbClr val="1C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2871216"/>
            <a:ext cx="2057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F5F8FC"/>
                </a:solidFill>
                <a:latin typeface="Aptos"/>
              </a:rPr>
              <a:t>MonthName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2871216"/>
            <a:ext cx="4114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0">
                <a:solidFill>
                  <a:srgbClr val="AEBECF"/>
                </a:solidFill>
                <a:latin typeface="Aptos"/>
              </a:rPr>
              <a:t>Readable month label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9" y="2871216"/>
            <a:ext cx="3383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0">
                <a:solidFill>
                  <a:srgbClr val="F5F8FC"/>
                </a:solidFill>
                <a:latin typeface="Aptos"/>
              </a:rPr>
              <a:t>month_name(PurchaseDate)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337560"/>
            <a:ext cx="2057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F5F8FC"/>
                </a:solidFill>
                <a:latin typeface="Aptos"/>
              </a:rPr>
              <a:t>PurchaseDay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3337560"/>
            <a:ext cx="4114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0">
                <a:solidFill>
                  <a:srgbClr val="AEBECF"/>
                </a:solidFill>
                <a:latin typeface="Aptos"/>
              </a:rPr>
              <a:t>Day of month extracted from PurchaseDate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79" y="3337560"/>
            <a:ext cx="3383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0">
                <a:solidFill>
                  <a:srgbClr val="F5F8FC"/>
                </a:solidFill>
                <a:latin typeface="Aptos"/>
              </a:rPr>
              <a:t>day(PurchaseDate)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3758184"/>
            <a:ext cx="10607040" cy="384048"/>
          </a:xfrm>
          <a:prstGeom prst="roundRect">
            <a:avLst/>
          </a:prstGeom>
          <a:solidFill>
            <a:srgbClr val="1C3048"/>
          </a:solidFill>
          <a:ln>
            <a:solidFill>
              <a:srgbClr val="1C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4400" y="3803904"/>
            <a:ext cx="2057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F5F8FC"/>
                </a:solidFill>
                <a:latin typeface="Aptos"/>
              </a:rPr>
              <a:t>WeekOfMonth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08960" y="3803904"/>
            <a:ext cx="4114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0">
                <a:solidFill>
                  <a:srgbClr val="AEBECF"/>
                </a:solidFill>
                <a:latin typeface="Aptos"/>
              </a:rPr>
              <a:t>Week position inside the month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79" y="3803904"/>
            <a:ext cx="3383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0">
                <a:solidFill>
                  <a:srgbClr val="F5F8FC"/>
                </a:solidFill>
                <a:latin typeface="Aptos"/>
              </a:rPr>
              <a:t>ceil(day / 7)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270248"/>
            <a:ext cx="2057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F5F8FC"/>
                </a:solidFill>
                <a:latin typeface="Aptos"/>
              </a:rPr>
              <a:t>DayOfWeek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08960" y="4270248"/>
            <a:ext cx="4114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0">
                <a:solidFill>
                  <a:srgbClr val="AEBECF"/>
                </a:solidFill>
                <a:latin typeface="Aptos"/>
              </a:rPr>
              <a:t>Day name/number from date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79" y="4270248"/>
            <a:ext cx="3383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0">
                <a:solidFill>
                  <a:srgbClr val="F5F8FC"/>
                </a:solidFill>
                <a:latin typeface="Aptos"/>
              </a:rPr>
              <a:t>dayofweek(PurchaseDate)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" y="4690872"/>
            <a:ext cx="10607040" cy="384048"/>
          </a:xfrm>
          <a:prstGeom prst="roundRect">
            <a:avLst/>
          </a:prstGeom>
          <a:solidFill>
            <a:srgbClr val="1C3048"/>
          </a:solidFill>
          <a:ln>
            <a:solidFill>
              <a:srgbClr val="1C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14400" y="4736592"/>
            <a:ext cx="2057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F5F8FC"/>
                </a:solidFill>
                <a:latin typeface="Aptos"/>
              </a:rPr>
              <a:t>WeekendPurchase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08960" y="4736592"/>
            <a:ext cx="4114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0">
                <a:solidFill>
                  <a:srgbClr val="AEBECF"/>
                </a:solidFill>
                <a:latin typeface="Aptos"/>
              </a:rPr>
              <a:t>Weekend behavior indicator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79" y="4736592"/>
            <a:ext cx="3383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0">
                <a:solidFill>
                  <a:srgbClr val="F5F8FC"/>
                </a:solidFill>
                <a:latin typeface="Aptos"/>
              </a:rPr>
              <a:t>DayOfWeek ∈ {Saturday, Sunday}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5202936"/>
            <a:ext cx="2057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F5F8FC"/>
                </a:solidFill>
                <a:latin typeface="Aptos"/>
              </a:rPr>
              <a:t>AgeGroup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108960" y="5202936"/>
            <a:ext cx="4114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0">
                <a:solidFill>
                  <a:srgbClr val="AEBECF"/>
                </a:solidFill>
                <a:latin typeface="Aptos"/>
              </a:rPr>
              <a:t>Customer age segmentation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98079" y="5202936"/>
            <a:ext cx="3383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0">
                <a:solidFill>
                  <a:srgbClr val="F5F8FC"/>
                </a:solidFill>
                <a:latin typeface="Aptos"/>
              </a:rPr>
              <a:t>bins(Age)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" y="5742432"/>
            <a:ext cx="10332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3DDC97"/>
                </a:solidFill>
                <a:latin typeface="Aptos"/>
              </a:rPr>
              <a:t>Feature engineering expanded the dataset from the original transaction fields into a richer analytical feature set.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510528"/>
            <a:ext cx="11155680" cy="22313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dirty="0">
                <a:solidFill>
                  <a:srgbClr val="AEBECF"/>
                </a:solidFill>
                <a:latin typeface="Aptos"/>
              </a:rPr>
              <a:t>AI Retail Analytics Platform  |  4/10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5F8FC"/>
                </a:solidFill>
                <a:latin typeface="Aptos"/>
              </a:rPr>
              <a:t>4. EDA &amp; Business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5039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EBECF"/>
                </a:solidFill>
                <a:latin typeface="Aptos"/>
              </a:rPr>
              <a:t>Exploratory analysis identifies patterns, trends, segments and relationships in the retail data.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25880"/>
            <a:ext cx="3429000" cy="1600200"/>
          </a:xfrm>
          <a:prstGeom prst="roundRect">
            <a:avLst/>
          </a:prstGeom>
          <a:solidFill>
            <a:srgbClr val="142336"/>
          </a:solidFill>
          <a:ln>
            <a:solidFill>
              <a:srgbClr val="142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554480"/>
            <a:ext cx="29260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DDC97"/>
                </a:solidFill>
                <a:latin typeface="Aptos"/>
              </a:rPr>
              <a:t>Revenue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984248"/>
            <a:ext cx="28803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F5F8FC"/>
                </a:solidFill>
                <a:latin typeface="Aptos"/>
              </a:rPr>
              <a:t>Total revenue, average order value and category/location performance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325880"/>
            <a:ext cx="3429000" cy="1600200"/>
          </a:xfrm>
          <a:prstGeom prst="roundRect">
            <a:avLst/>
          </a:prstGeom>
          <a:solidFill>
            <a:srgbClr val="142336"/>
          </a:solidFill>
          <a:ln>
            <a:solidFill>
              <a:srgbClr val="142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63440" y="1554480"/>
            <a:ext cx="29260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DDC97"/>
                </a:solidFill>
                <a:latin typeface="Aptos"/>
              </a:rPr>
              <a:t>Customer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1984248"/>
            <a:ext cx="28803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F5F8FC"/>
                </a:solidFill>
                <a:latin typeface="Aptos"/>
              </a:rPr>
              <a:t>Age groups, ratings, customer segments and churn behavior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21040" y="1325880"/>
            <a:ext cx="3429000" cy="1600200"/>
          </a:xfrm>
          <a:prstGeom prst="roundRect">
            <a:avLst/>
          </a:prstGeom>
          <a:solidFill>
            <a:srgbClr val="142336"/>
          </a:solidFill>
          <a:ln>
            <a:solidFill>
              <a:srgbClr val="142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49640" y="1554480"/>
            <a:ext cx="29260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DDC97"/>
                </a:solidFill>
                <a:latin typeface="Aptos"/>
              </a:rPr>
              <a:t>Product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1984248"/>
            <a:ext cx="28803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F5F8FC"/>
                </a:solidFill>
                <a:latin typeface="Aptos"/>
              </a:rPr>
              <a:t>Category performance, quantity and price patterns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383280"/>
            <a:ext cx="3429000" cy="1600200"/>
          </a:xfrm>
          <a:prstGeom prst="roundRect">
            <a:avLst/>
          </a:prstGeom>
          <a:solidFill>
            <a:srgbClr val="142336"/>
          </a:solidFill>
          <a:ln>
            <a:solidFill>
              <a:srgbClr val="142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3611880"/>
            <a:ext cx="29260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DDC97"/>
                </a:solidFill>
                <a:latin typeface="Aptos"/>
              </a:rPr>
              <a:t>Payment Analysis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041648"/>
            <a:ext cx="28803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F5F8FC"/>
                </a:solidFill>
                <a:latin typeface="Aptos"/>
              </a:rPr>
              <a:t>COD, Credit Card, UPI and Wallet usage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34840" y="3383280"/>
            <a:ext cx="3429000" cy="1600200"/>
          </a:xfrm>
          <a:prstGeom prst="roundRect">
            <a:avLst/>
          </a:prstGeom>
          <a:solidFill>
            <a:srgbClr val="142336"/>
          </a:solidFill>
          <a:ln>
            <a:solidFill>
              <a:srgbClr val="142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663440" y="3611880"/>
            <a:ext cx="29260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DDC97"/>
                </a:solidFill>
                <a:latin typeface="Aptos"/>
              </a:rPr>
              <a:t>Time Analysis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4041648"/>
            <a:ext cx="28803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F5F8FC"/>
                </a:solidFill>
                <a:latin typeface="Aptos"/>
              </a:rPr>
              <a:t>Monthly, weekday and weekend purchase patterns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21040" y="3383280"/>
            <a:ext cx="3429000" cy="1600200"/>
          </a:xfrm>
          <a:prstGeom prst="roundRect">
            <a:avLst/>
          </a:prstGeom>
          <a:solidFill>
            <a:srgbClr val="142336"/>
          </a:solidFill>
          <a:ln>
            <a:solidFill>
              <a:srgbClr val="142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549640" y="3611880"/>
            <a:ext cx="29260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DDC97"/>
                </a:solidFill>
                <a:latin typeface="Aptos"/>
              </a:rPr>
              <a:t>Geographic Analysis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9640" y="4041648"/>
            <a:ext cx="28803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F5F8FC"/>
                </a:solidFill>
                <a:latin typeface="Aptos"/>
              </a:rPr>
              <a:t>Revenue and customer distribution by location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623560"/>
            <a:ext cx="11064240" cy="502920"/>
          </a:xfrm>
          <a:prstGeom prst="roundRect">
            <a:avLst/>
          </a:prstGeom>
          <a:solidFill>
            <a:srgbClr val="1C3048"/>
          </a:solidFill>
          <a:ln>
            <a:solidFill>
              <a:srgbClr val="1C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77240" y="5751576"/>
            <a:ext cx="10607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5F8FC"/>
                </a:solidFill>
                <a:latin typeface="Aptos"/>
              </a:rPr>
              <a:t>Output: EDA summary reports + saved visualizations in reports/figures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510528"/>
            <a:ext cx="11155680" cy="22313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dirty="0">
                <a:solidFill>
                  <a:srgbClr val="AEBECF"/>
                </a:solidFill>
                <a:latin typeface="Aptos"/>
              </a:rPr>
              <a:t>AI Retail Analytics Platform  |  5/10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5F8FC"/>
                </a:solidFill>
                <a:latin typeface="Aptos"/>
              </a:rPr>
              <a:t>5. Machine Learning: Customer Churn Prediction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5039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EBECF"/>
                </a:solidFill>
                <a:latin typeface="Aptos"/>
              </a:rPr>
              <a:t>The predictive model estimates whether a customer is likely to churn.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34440"/>
            <a:ext cx="5120640" cy="4526280"/>
          </a:xfrm>
          <a:prstGeom prst="roundRect">
            <a:avLst/>
          </a:prstGeom>
          <a:solidFill>
            <a:srgbClr val="142336"/>
          </a:solidFill>
          <a:ln>
            <a:solidFill>
              <a:srgbClr val="142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55448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3DDC97"/>
                </a:solidFill>
                <a:latin typeface="Aptos"/>
              </a:rPr>
              <a:t>Target Variable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01168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5F8FC"/>
                </a:solidFill>
                <a:latin typeface="Aptos"/>
              </a:rPr>
              <a:t>ChurnStatus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606040"/>
            <a:ext cx="42519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AEBECF"/>
                </a:solidFill>
                <a:latin typeface="Aptos"/>
              </a:rPr>
              <a:t>The model learns patterns from customer, transaction, payment and purchase behavior to predict churn risk.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88620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3DDC97"/>
                </a:solidFill>
                <a:latin typeface="Aptos"/>
              </a:rPr>
              <a:t>Models Compared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97680"/>
            <a:ext cx="3840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F5F8FC"/>
                </a:solidFill>
                <a:latin typeface="Aptos"/>
              </a:defRPr>
            </a:pPr>
            <a:r>
              <a:t>Logistic Regression</a:t>
            </a:r>
          </a:p>
          <a:p>
            <a:pPr>
              <a:spcAft>
                <a:spcPts val="500"/>
              </a:spcAft>
              <a:defRPr sz="1500">
                <a:solidFill>
                  <a:srgbClr val="F5F8FC"/>
                </a:solidFill>
                <a:latin typeface="Aptos"/>
              </a:defRPr>
            </a:pPr>
            <a:r>
              <a:t>Random Forest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89320" y="1234440"/>
            <a:ext cx="5623560" cy="4526280"/>
          </a:xfrm>
          <a:prstGeom prst="roundRect">
            <a:avLst/>
          </a:prstGeom>
          <a:solidFill>
            <a:srgbClr val="1C3048"/>
          </a:solidFill>
          <a:ln>
            <a:solidFill>
              <a:srgbClr val="1C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55080" y="1554480"/>
            <a:ext cx="4663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5F8FC"/>
                </a:solidFill>
                <a:latin typeface="Aptos"/>
              </a:rPr>
              <a:t>Model Evaluation Metrics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48840"/>
            <a:ext cx="1508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3DDC97"/>
                </a:solidFill>
                <a:latin typeface="Aptos"/>
              </a:rPr>
              <a:t>Accuracy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9560" y="2148840"/>
            <a:ext cx="32461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F5F8FC"/>
                </a:solidFill>
                <a:latin typeface="Aptos"/>
              </a:rPr>
              <a:t>Correct predictions / Total predictions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834640"/>
            <a:ext cx="1508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3DDC97"/>
                </a:solidFill>
                <a:latin typeface="Aptos"/>
              </a:rPr>
              <a:t>Precision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9560" y="2834640"/>
            <a:ext cx="32461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F5F8FC"/>
                </a:solidFill>
                <a:latin typeface="Aptos"/>
              </a:rPr>
              <a:t>Correct churn predictions / All predicted churn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520440"/>
            <a:ext cx="1508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3DDC97"/>
                </a:solidFill>
                <a:latin typeface="Aptos"/>
              </a:rPr>
              <a:t>Recall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9560" y="3520440"/>
            <a:ext cx="32461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F5F8FC"/>
                </a:solidFill>
                <a:latin typeface="Aptos"/>
              </a:rPr>
              <a:t>Correct churn predictions / All actual churn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206240"/>
            <a:ext cx="1508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3DDC97"/>
                </a:solidFill>
                <a:latin typeface="Aptos"/>
              </a:rPr>
              <a:t>F1 Score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09560" y="4206240"/>
            <a:ext cx="32461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F5F8FC"/>
                </a:solidFill>
                <a:latin typeface="Aptos"/>
              </a:rPr>
              <a:t>Harmonic mean of Precision and Recall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507492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FFAE4F"/>
                </a:solidFill>
                <a:latin typeface="Aptos"/>
              </a:rPr>
              <a:t>Best model selected based on comparative evaluation.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510528"/>
            <a:ext cx="11155680" cy="22313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dirty="0">
                <a:solidFill>
                  <a:srgbClr val="AEBECF"/>
                </a:solidFill>
                <a:latin typeface="Aptos"/>
              </a:rPr>
              <a:t>AI Retail Analytics Platform   |  6/10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5F8FC"/>
                </a:solidFill>
                <a:latin typeface="Aptos"/>
              </a:rPr>
              <a:t>6. Prediction Pipeline &amp; Business Output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5039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EBECF"/>
                </a:solidFill>
                <a:latin typeface="Aptos"/>
              </a:rPr>
              <a:t>Predictions are converted into actionable risk information for decision-making.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11064240" cy="914400"/>
          </a:xfrm>
          <a:prstGeom prst="roundRect">
            <a:avLst/>
          </a:prstGeom>
          <a:solidFill>
            <a:srgbClr val="142336"/>
          </a:solidFill>
          <a:ln>
            <a:solidFill>
              <a:srgbClr val="142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572768"/>
            <a:ext cx="14173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1">
                <a:solidFill>
                  <a:srgbClr val="F5F8FC"/>
                </a:solidFill>
                <a:latin typeface="Aptos"/>
              </a:rPr>
              <a:t>Customer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58568" y="1554480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3DDC97"/>
                </a:solidFill>
                <a:latin typeface="Aptos"/>
              </a:rPr>
              <a:t>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06040" y="1572768"/>
            <a:ext cx="14173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1">
                <a:solidFill>
                  <a:srgbClr val="F5F8FC"/>
                </a:solidFill>
                <a:latin typeface="Aptos"/>
              </a:rPr>
              <a:t>Preprocessing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87368" y="1554480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3DDC97"/>
                </a:solidFill>
                <a:latin typeface="Aptos"/>
              </a:rP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4840" y="1572768"/>
            <a:ext cx="14173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1">
                <a:solidFill>
                  <a:srgbClr val="F5F8FC"/>
                </a:solidFill>
                <a:latin typeface="Aptos"/>
              </a:rPr>
              <a:t>ML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16168" y="1554480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3DDC97"/>
                </a:solidFill>
                <a:latin typeface="Aptos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572768"/>
            <a:ext cx="14173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1">
                <a:solidFill>
                  <a:srgbClr val="F5F8FC"/>
                </a:solidFill>
                <a:latin typeface="Aptos"/>
              </a:rPr>
              <a:t>Churn Probability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44967" y="1554480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3DDC97"/>
                </a:solidFill>
                <a:latin typeface="Aptos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1572768"/>
            <a:ext cx="14173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1">
                <a:solidFill>
                  <a:srgbClr val="F5F8FC"/>
                </a:solidFill>
                <a:latin typeface="Aptos"/>
              </a:rPr>
              <a:t>Risk Category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73767" y="1554480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3DDC97"/>
                </a:solidFill>
                <a:latin typeface="Aptos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21240" y="1572768"/>
            <a:ext cx="14173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1">
                <a:solidFill>
                  <a:srgbClr val="F5F8FC"/>
                </a:solidFill>
                <a:latin typeface="Aptos"/>
              </a:rPr>
              <a:t>Business Action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2514600"/>
            <a:ext cx="5303520" cy="3063240"/>
          </a:xfrm>
          <a:prstGeom prst="roundRect">
            <a:avLst/>
          </a:prstGeom>
          <a:solidFill>
            <a:srgbClr val="142336"/>
          </a:solidFill>
          <a:ln>
            <a:solidFill>
              <a:srgbClr val="142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" y="2834640"/>
            <a:ext cx="4389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3DDC97"/>
                </a:solidFill>
                <a:latin typeface="Aptos"/>
              </a:rPr>
              <a:t>Prediction Output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383280"/>
            <a:ext cx="43891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F5F8FC"/>
                </a:solidFill>
                <a:latin typeface="Aptos"/>
              </a:defRPr>
            </a:pPr>
            <a:r>
              <a:t>Predicted Churn / Non-Churn status</a:t>
            </a:r>
          </a:p>
          <a:p>
            <a:pPr>
              <a:spcAft>
                <a:spcPts val="500"/>
              </a:spcAft>
              <a:defRPr sz="1500">
                <a:solidFill>
                  <a:srgbClr val="F5F8FC"/>
                </a:solidFill>
                <a:latin typeface="Aptos"/>
              </a:defRPr>
            </a:pPr>
            <a:r>
              <a:t>Prediction probability / confidence</a:t>
            </a:r>
          </a:p>
          <a:p>
            <a:pPr>
              <a:spcAft>
                <a:spcPts val="500"/>
              </a:spcAft>
              <a:defRPr sz="1500">
                <a:solidFill>
                  <a:srgbClr val="F5F8FC"/>
                </a:solidFill>
                <a:latin typeface="Aptos"/>
              </a:defRPr>
            </a:pPr>
            <a:r>
              <a:t>High, Medium and Low confidence grouping</a:t>
            </a:r>
          </a:p>
          <a:p>
            <a:pPr>
              <a:spcAft>
                <a:spcPts val="500"/>
              </a:spcAft>
              <a:defRPr sz="1500">
                <a:solidFill>
                  <a:srgbClr val="F5F8FC"/>
                </a:solidFill>
                <a:latin typeface="Aptos"/>
              </a:defRPr>
            </a:pPr>
            <a:r>
              <a:t>Prediction results exported as CSV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2514600"/>
            <a:ext cx="5486400" cy="3063240"/>
          </a:xfrm>
          <a:prstGeom prst="roundRect">
            <a:avLst/>
          </a:prstGeom>
          <a:solidFill>
            <a:srgbClr val="1C3048"/>
          </a:solidFill>
          <a:ln>
            <a:solidFill>
              <a:srgbClr val="1C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46520" y="283464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5F8FC"/>
                </a:solidFill>
                <a:latin typeface="Aptos"/>
              </a:rPr>
              <a:t>Business Use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383280"/>
            <a:ext cx="4572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F5F8FC"/>
                </a:solidFill>
                <a:latin typeface="Aptos"/>
              </a:defRPr>
            </a:pPr>
            <a:r>
              <a:t>Identify customers at risk of leaving</a:t>
            </a:r>
          </a:p>
          <a:p>
            <a:pPr>
              <a:spcAft>
                <a:spcPts val="500"/>
              </a:spcAft>
              <a:defRPr sz="1500">
                <a:solidFill>
                  <a:srgbClr val="F5F8FC"/>
                </a:solidFill>
                <a:latin typeface="Aptos"/>
              </a:defRPr>
            </a:pPr>
            <a:r>
              <a:t>Prioritize retention campaigns</a:t>
            </a:r>
          </a:p>
          <a:p>
            <a:pPr>
              <a:spcAft>
                <a:spcPts val="500"/>
              </a:spcAft>
              <a:defRPr sz="1500">
                <a:solidFill>
                  <a:srgbClr val="F5F8FC"/>
                </a:solidFill>
                <a:latin typeface="Aptos"/>
              </a:defRPr>
            </a:pPr>
            <a:r>
              <a:t>Understand customer behavior patterns</a:t>
            </a:r>
          </a:p>
          <a:p>
            <a:pPr>
              <a:spcAft>
                <a:spcPts val="500"/>
              </a:spcAft>
              <a:defRPr sz="1500">
                <a:solidFill>
                  <a:srgbClr val="F5F8FC"/>
                </a:solidFill>
                <a:latin typeface="Aptos"/>
              </a:defRPr>
            </a:pPr>
            <a:r>
              <a:t>Support data-driven business decisions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510528"/>
            <a:ext cx="11155680" cy="22313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dirty="0">
                <a:solidFill>
                  <a:srgbClr val="AEBECF"/>
                </a:solidFill>
                <a:latin typeface="Aptos"/>
              </a:rPr>
              <a:t>AI Retail Analytics Platform   |  7/10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5F8FC"/>
                </a:solidFill>
                <a:latin typeface="Aptos"/>
              </a:rPr>
              <a:t>7. Interactive Dashboard &amp;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5039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EBECF"/>
                </a:solidFill>
                <a:latin typeface="Aptos"/>
              </a:rPr>
              <a:t>The platform combines a Streamlit frontend with a FastAPI backend and trained ML model.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508760"/>
            <a:ext cx="2423160" cy="1417320"/>
          </a:xfrm>
          <a:prstGeom prst="roundRect">
            <a:avLst/>
          </a:prstGeom>
          <a:solidFill>
            <a:srgbClr val="142336"/>
          </a:solidFill>
          <a:ln>
            <a:solidFill>
              <a:srgbClr val="142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58952" y="1783080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3DDC97"/>
                </a:solidFill>
                <a:latin typeface="Aptos"/>
              </a:rPr>
              <a:t>Streamlit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240280"/>
            <a:ext cx="2057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0">
                <a:solidFill>
                  <a:srgbClr val="F5F8FC"/>
                </a:solidFill>
                <a:latin typeface="Aptos"/>
              </a:rPr>
              <a:t>User interface
KPIs • Analytics • Reports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81528" y="1993392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3DDC97"/>
                </a:solidFill>
                <a:latin typeface="Aptos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508760"/>
            <a:ext cx="2423160" cy="1417320"/>
          </a:xfrm>
          <a:prstGeom prst="roundRect">
            <a:avLst/>
          </a:prstGeom>
          <a:solidFill>
            <a:srgbClr val="1C3048"/>
          </a:solidFill>
          <a:ln>
            <a:solidFill>
              <a:srgbClr val="1C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39312" y="1783080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3DDC97"/>
                </a:solidFill>
                <a:latin typeface="Aptos"/>
              </a:rPr>
              <a:t>FastAPI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240280"/>
            <a:ext cx="2057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0">
                <a:solidFill>
                  <a:srgbClr val="F5F8FC"/>
                </a:solidFill>
                <a:latin typeface="Aptos"/>
              </a:rPr>
              <a:t>API layer
Data &amp; model endpoints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61888" y="1993392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3DDC97"/>
                </a:solidFill>
                <a:latin typeface="Apto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1508760"/>
            <a:ext cx="2423160" cy="1417320"/>
          </a:xfrm>
          <a:prstGeom prst="roundRect">
            <a:avLst/>
          </a:prstGeom>
          <a:solidFill>
            <a:srgbClr val="142336"/>
          </a:solidFill>
          <a:ln>
            <a:solidFill>
              <a:srgbClr val="142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19672" y="1783080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3DDC97"/>
                </a:solidFill>
                <a:latin typeface="Aptos"/>
              </a:rPr>
              <a:t>Processing Pipeline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240280"/>
            <a:ext cx="2057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0">
                <a:solidFill>
                  <a:srgbClr val="F5F8FC"/>
                </a:solidFill>
                <a:latin typeface="Aptos"/>
              </a:rPr>
              <a:t>ETL • EDA
Feature Engineering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42248" y="1993392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3DDC97"/>
                </a:solidFill>
                <a:latin typeface="Apto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35440" y="1508760"/>
            <a:ext cx="2423160" cy="1417320"/>
          </a:xfrm>
          <a:prstGeom prst="roundRect">
            <a:avLst/>
          </a:prstGeom>
          <a:solidFill>
            <a:srgbClr val="1C3048"/>
          </a:solidFill>
          <a:ln>
            <a:solidFill>
              <a:srgbClr val="1C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400032" y="1783080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3DDC97"/>
                </a:solidFill>
                <a:latin typeface="Aptos"/>
              </a:rPr>
              <a:t>ML Model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19" y="2240280"/>
            <a:ext cx="2057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0">
                <a:solidFill>
                  <a:srgbClr val="F5F8FC"/>
                </a:solidFill>
                <a:latin typeface="Aptos"/>
              </a:rPr>
              <a:t>Churn prediction
Metrics &amp; probabilities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3429000"/>
            <a:ext cx="11018520" cy="2057400"/>
          </a:xfrm>
          <a:prstGeom prst="roundRect">
            <a:avLst/>
          </a:prstGeom>
          <a:solidFill>
            <a:srgbClr val="142336"/>
          </a:solidFill>
          <a:ln>
            <a:solidFill>
              <a:srgbClr val="142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3703320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F5F8FC"/>
                </a:solidFill>
                <a:latin typeface="Aptos"/>
              </a:rPr>
              <a:t>Dashboard Modules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251960"/>
            <a:ext cx="2926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F5F8FC"/>
                </a:solidFill>
                <a:latin typeface="Aptos"/>
              </a:rPr>
              <a:t>• Dashboard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4251960"/>
            <a:ext cx="2926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F5F8FC"/>
                </a:solidFill>
                <a:latin typeface="Aptos"/>
              </a:rPr>
              <a:t>• Dataset Manager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4251960"/>
            <a:ext cx="2926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F5F8FC"/>
                </a:solidFill>
                <a:latin typeface="Aptos"/>
              </a:rPr>
              <a:t>• Analytics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690872"/>
            <a:ext cx="2926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F5F8FC"/>
                </a:solidFill>
                <a:latin typeface="Aptos"/>
              </a:rPr>
              <a:t>• AI Prediction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3400" y="4690872"/>
            <a:ext cx="2926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F5F8FC"/>
                </a:solidFill>
                <a:latin typeface="Aptos"/>
              </a:rPr>
              <a:t>• Bulk Prediction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0" y="4690872"/>
            <a:ext cx="2926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F5F8FC"/>
                </a:solidFill>
                <a:latin typeface="Aptos"/>
              </a:rPr>
              <a:t>• Business Insights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129784"/>
            <a:ext cx="2926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F5F8FC"/>
                </a:solidFill>
                <a:latin typeface="Aptos"/>
              </a:rPr>
              <a:t>• Model Performance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43400" y="5129784"/>
            <a:ext cx="2926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F5F8FC"/>
                </a:solidFill>
                <a:latin typeface="Aptos"/>
              </a:rPr>
              <a:t>• Reports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0" y="5129784"/>
            <a:ext cx="2926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F5F8FC"/>
                </a:solidFill>
                <a:latin typeface="Aptos"/>
              </a:rPr>
              <a:t>• Settings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10528"/>
            <a:ext cx="11155680" cy="22313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dirty="0">
                <a:solidFill>
                  <a:srgbClr val="AEBECF"/>
                </a:solidFill>
                <a:latin typeface="Aptos"/>
              </a:rPr>
              <a:t>AI Retail Analytics Platform  |  8/10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5F8FC"/>
                </a:solidFill>
                <a:latin typeface="Aptos"/>
              </a:rPr>
              <a:t>8. Technology Stack &amp; Project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5039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EBECF"/>
                </a:solidFill>
                <a:latin typeface="Aptos"/>
              </a:rPr>
              <a:t>The project follows a modular structure separating data, processing, modeling, API and presentation layers.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34440"/>
            <a:ext cx="5120640" cy="4846320"/>
          </a:xfrm>
          <a:prstGeom prst="roundRect">
            <a:avLst/>
          </a:prstGeom>
          <a:solidFill>
            <a:srgbClr val="142336"/>
          </a:solidFill>
          <a:ln>
            <a:solidFill>
              <a:srgbClr val="142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554480"/>
            <a:ext cx="4206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3DDC97"/>
                </a:solidFill>
                <a:latin typeface="Aptos"/>
              </a:rPr>
              <a:t>Technology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1508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3DDC97"/>
                </a:solidFill>
                <a:latin typeface="Aptos"/>
              </a:rPr>
              <a:t>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23160" y="2103120"/>
            <a:ext cx="28346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5F8FC"/>
                </a:solidFill>
                <a:latin typeface="Aptos"/>
              </a:rPr>
              <a:t>CSV datasets • Pandas • NumPy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16352"/>
            <a:ext cx="1508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3DDC97"/>
                </a:solidFill>
                <a:latin typeface="Aptos"/>
              </a:rPr>
              <a:t>Visualization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2816352"/>
            <a:ext cx="28346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5F8FC"/>
                </a:solidFill>
                <a:latin typeface="Aptos"/>
              </a:rPr>
              <a:t>Matplotlib • Plotly • Streamlit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529584"/>
            <a:ext cx="1508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3DDC97"/>
                </a:solidFill>
                <a:latin typeface="Aptos"/>
              </a:rPr>
              <a:t>Machine Learning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23160" y="3529584"/>
            <a:ext cx="28346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5F8FC"/>
                </a:solidFill>
                <a:latin typeface="Aptos"/>
              </a:rPr>
              <a:t>Scikit-learn • Joblib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242816"/>
            <a:ext cx="1508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3DDC97"/>
                </a:solidFill>
                <a:latin typeface="Aptos"/>
              </a:rPr>
              <a:t>Backend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23160" y="4242816"/>
            <a:ext cx="28346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5F8FC"/>
                </a:solidFill>
                <a:latin typeface="Aptos"/>
              </a:rPr>
              <a:t>FastAPI • Uvicorn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956048"/>
            <a:ext cx="1508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3DDC97"/>
                </a:solidFill>
                <a:latin typeface="Aptos"/>
              </a:rPr>
              <a:t>Development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23160" y="4956048"/>
            <a:ext cx="28346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5F8FC"/>
                </a:solidFill>
                <a:latin typeface="Aptos"/>
              </a:rPr>
              <a:t>Python • VS Code • Git/GitHub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89320" y="1234440"/>
            <a:ext cx="5623560" cy="4846320"/>
          </a:xfrm>
          <a:prstGeom prst="roundRect">
            <a:avLst/>
          </a:prstGeom>
          <a:solidFill>
            <a:srgbClr val="1C3048"/>
          </a:solidFill>
          <a:ln>
            <a:solidFill>
              <a:srgbClr val="1C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09360" y="1554480"/>
            <a:ext cx="4663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5F8FC"/>
                </a:solidFill>
                <a:latin typeface="Aptos"/>
              </a:rPr>
              <a:t>Project Structure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057400"/>
            <a:ext cx="47091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50">
                <a:solidFill>
                  <a:srgbClr val="F5F8FC"/>
                </a:solidFill>
                <a:latin typeface="Aptos"/>
              </a:defRPr>
            </a:pPr>
            <a:r>
              <a:t>data/ → raw, cleaned, processed, predictions</a:t>
            </a:r>
          </a:p>
          <a:p>
            <a:pPr>
              <a:spcAft>
                <a:spcPts val="500"/>
              </a:spcAft>
              <a:defRPr sz="1350">
                <a:solidFill>
                  <a:srgbClr val="F5F8FC"/>
                </a:solidFill>
                <a:latin typeface="Aptos"/>
              </a:defRPr>
            </a:pPr>
            <a:r>
              <a:t>reports/ → generated reports and figures</a:t>
            </a:r>
          </a:p>
          <a:p>
            <a:pPr>
              <a:spcAft>
                <a:spcPts val="500"/>
              </a:spcAft>
              <a:defRPr sz="1350">
                <a:solidFill>
                  <a:srgbClr val="F5F8FC"/>
                </a:solidFill>
                <a:latin typeface="Aptos"/>
              </a:defRPr>
            </a:pPr>
            <a:r>
              <a:t>models/ → saved trained model</a:t>
            </a:r>
          </a:p>
          <a:p>
            <a:pPr>
              <a:spcAft>
                <a:spcPts val="500"/>
              </a:spcAft>
              <a:defRPr sz="1350">
                <a:solidFill>
                  <a:srgbClr val="F5F8FC"/>
                </a:solidFill>
                <a:latin typeface="Aptos"/>
              </a:defRPr>
            </a:pPr>
            <a:r>
              <a:t>src/analysis/ → analytics and EDA</a:t>
            </a:r>
          </a:p>
          <a:p>
            <a:pPr>
              <a:spcAft>
                <a:spcPts val="500"/>
              </a:spcAft>
              <a:defRPr sz="1350">
                <a:solidFill>
                  <a:srgbClr val="F5F8FC"/>
                </a:solidFill>
                <a:latin typeface="Aptos"/>
              </a:defRPr>
            </a:pPr>
            <a:r>
              <a:t>src/preprocessing/ → validation, cleaning, features</a:t>
            </a:r>
          </a:p>
          <a:p>
            <a:pPr>
              <a:spcAft>
                <a:spcPts val="500"/>
              </a:spcAft>
              <a:defRPr sz="1350">
                <a:solidFill>
                  <a:srgbClr val="F5F8FC"/>
                </a:solidFill>
                <a:latin typeface="Aptos"/>
              </a:defRPr>
            </a:pPr>
            <a:r>
              <a:t>src/models/ → training and prediction</a:t>
            </a:r>
          </a:p>
          <a:p>
            <a:pPr>
              <a:spcAft>
                <a:spcPts val="500"/>
              </a:spcAft>
              <a:defRPr sz="1350">
                <a:solidFill>
                  <a:srgbClr val="F5F8FC"/>
                </a:solidFill>
                <a:latin typeface="Aptos"/>
              </a:defRPr>
            </a:pPr>
            <a:r>
              <a:t>src/api/ → FastAPI backend</a:t>
            </a:r>
          </a:p>
          <a:p>
            <a:pPr>
              <a:spcAft>
                <a:spcPts val="500"/>
              </a:spcAft>
              <a:defRPr sz="1350">
                <a:solidFill>
                  <a:srgbClr val="F5F8FC"/>
                </a:solidFill>
                <a:latin typeface="Aptos"/>
              </a:defRPr>
            </a:pPr>
            <a:r>
              <a:t>src/dashboard/ → Streamlit application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EBECF"/>
                </a:solidFill>
                <a:latin typeface="Aptos"/>
              </a:rPr>
              <a:t>AI Retail Analytics Platform  •  ReadyNest Week 5  |  9/10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5F8FC"/>
                </a:solidFill>
                <a:latin typeface="Aptos"/>
              </a:rPr>
              <a:t>9. Final Outcome &amp; 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5039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EBECF"/>
                </a:solidFill>
                <a:latin typeface="Aptos"/>
              </a:rPr>
              <a:t>The project delivers a complete analytics workflow from raw data to predictive business intelligence.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10728960" cy="3685032"/>
          </a:xfrm>
          <a:prstGeom prst="roundRect">
            <a:avLst/>
          </a:prstGeom>
          <a:solidFill>
            <a:srgbClr val="142336"/>
          </a:solidFill>
          <a:ln>
            <a:solidFill>
              <a:srgbClr val="142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DDC97"/>
                </a:solidFill>
                <a:latin typeface="Aptos"/>
              </a:rPr>
              <a:t>End-to-End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88920" y="1645920"/>
            <a:ext cx="81381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0">
                <a:solidFill>
                  <a:srgbClr val="F5F8FC"/>
                </a:solidFill>
                <a:latin typeface="Aptos"/>
              </a:rPr>
              <a:t>A complete pipeline covering data engineering, analytics, machine learning and reporting.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04288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DDC97"/>
                </a:solidFill>
                <a:latin typeface="Aptos"/>
              </a:rPr>
              <a:t>Predictive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88920" y="2304288"/>
            <a:ext cx="81381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0">
                <a:solidFill>
                  <a:srgbClr val="F5F8FC"/>
                </a:solidFill>
                <a:latin typeface="Aptos"/>
              </a:rPr>
              <a:t>Customer churn prediction transforms historical data into proactive business action.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62656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DDC97"/>
                </a:solidFill>
                <a:latin typeface="Aptos"/>
              </a:rPr>
              <a:t>Interactive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2962656"/>
            <a:ext cx="81381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0">
                <a:solidFill>
                  <a:srgbClr val="F5F8FC"/>
                </a:solidFill>
                <a:latin typeface="Aptos"/>
              </a:rPr>
              <a:t>The dashboard enables users to explore KPIs, predictions, model performance and reports.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621024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DDC97"/>
                </a:solidFill>
                <a:latin typeface="Aptos"/>
              </a:rPr>
              <a:t>Modular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3621024"/>
            <a:ext cx="81381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0">
                <a:solidFill>
                  <a:srgbClr val="F5F8FC"/>
                </a:solidFill>
                <a:latin typeface="Aptos"/>
              </a:rPr>
              <a:t>Separate components make the system easier to maintain, test and extend.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279392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DDC97"/>
                </a:solidFill>
                <a:latin typeface="Aptos"/>
              </a:rPr>
              <a:t>Business-Focused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8920" y="4279392"/>
            <a:ext cx="81381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0">
                <a:solidFill>
                  <a:srgbClr val="F5F8FC"/>
                </a:solidFill>
                <a:latin typeface="Aptos"/>
              </a:rPr>
              <a:t>Outputs are designed to support retention, revenue and operational decisions.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340096"/>
            <a:ext cx="11064240" cy="502920"/>
          </a:xfrm>
          <a:prstGeom prst="roundRect">
            <a:avLst/>
          </a:prstGeom>
          <a:solidFill>
            <a:srgbClr val="1C3048"/>
          </a:solidFill>
          <a:ln>
            <a:solidFill>
              <a:srgbClr val="1C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7240" y="5458968"/>
            <a:ext cx="10607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dirty="0">
                <a:solidFill>
                  <a:srgbClr val="3DDC97"/>
                </a:solidFill>
                <a:latin typeface="Aptos"/>
              </a:rPr>
              <a:t>Collect → Clean → Analyze → Predict → Visualize → Decide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510528"/>
            <a:ext cx="11155680" cy="22313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dirty="0">
                <a:solidFill>
                  <a:srgbClr val="AEBECF"/>
                </a:solidFill>
                <a:latin typeface="Aptos"/>
              </a:rPr>
              <a:t>AI Retail Analytics Platform   |  10/10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1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A4164C-FF5B-DC35-A981-5A43DDCF88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ounded Rectangle 15">
            <a:extLst>
              <a:ext uri="{FF2B5EF4-FFF2-40B4-BE49-F238E27FC236}">
                <a16:creationId xmlns:a16="http://schemas.microsoft.com/office/drawing/2014/main" id="{61FAECA3-F24C-2645-BE30-7A91D3B6F9C0}"/>
              </a:ext>
            </a:extLst>
          </p:cNvPr>
          <p:cNvSpPr/>
          <p:nvPr/>
        </p:nvSpPr>
        <p:spPr>
          <a:xfrm>
            <a:off x="3077497" y="1422737"/>
            <a:ext cx="6037006" cy="3185160"/>
          </a:xfrm>
          <a:prstGeom prst="roundRect">
            <a:avLst/>
          </a:prstGeom>
          <a:solidFill>
            <a:srgbClr val="1C3048"/>
          </a:solidFill>
          <a:ln>
            <a:solidFill>
              <a:srgbClr val="1C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76CDF6A-CA91-05F6-6BE5-5EE6872A14D5}"/>
              </a:ext>
            </a:extLst>
          </p:cNvPr>
          <p:cNvSpPr txBox="1"/>
          <p:nvPr/>
        </p:nvSpPr>
        <p:spPr>
          <a:xfrm>
            <a:off x="1238864" y="2275686"/>
            <a:ext cx="957662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dirty="0">
                <a:solidFill>
                  <a:schemeClr val="bg1"/>
                </a:solidFill>
              </a:rPr>
              <a:t>Thank You</a:t>
            </a:r>
            <a:endParaRPr lang="en-IN" sz="8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86241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976</Words>
  <Application>Microsoft Office PowerPoint</Application>
  <PresentationFormat>Widescreen</PresentationFormat>
  <Paragraphs>212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PC</dc:creator>
  <cp:keywords/>
  <dc:description>generated using python-pptx</dc:description>
  <cp:lastModifiedBy>SAKSHAM VARSHNEY</cp:lastModifiedBy>
  <cp:revision>2</cp:revision>
  <dcterms:created xsi:type="dcterms:W3CDTF">2013-01-27T09:14:16Z</dcterms:created>
  <dcterms:modified xsi:type="dcterms:W3CDTF">2026-07-16T05:58:54Z</dcterms:modified>
  <cp:category/>
</cp:coreProperties>
</file>